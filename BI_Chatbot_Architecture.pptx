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A8A7A">
              <a:alpha val="12000"/>
            </a:srgbClr>
          </a:solidFill>
          <a:ln w="12700">
            <a:solidFill>
              <a:srgbClr val="0A8A7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560320"/>
            <a:ext cx="1828800" cy="1828800"/>
          </a:xfrm>
          <a:prstGeom prst="ellipse">
            <a:avLst/>
          </a:prstGeom>
          <a:solidFill>
            <a:srgbClr val="0FC5B0">
              <a:alpha val="10000"/>
            </a:srgbClr>
          </a:solidFill>
          <a:ln w="12700">
            <a:solidFill>
              <a:srgbClr val="0FC5B0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2011680" cy="292608"/>
          </a:xfrm>
          <a:prstGeom prst="rect">
            <a:avLst>
              <a:gd name="adj" fmla="val 12500"/>
            </a:avLst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ARCHITECTURE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Chatbot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Semantic Layer → Live Redshift Data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A8A7A">
              <a:alpha val="30000"/>
            </a:srgbClr>
          </a:solidFill>
          <a:ln w="12700">
            <a:solidFill>
              <a:srgbClr val="0A8A7A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7731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6FA">
                    <a:alpha val="80000"/>
                  </a:srgbClr>
                </a:solidFill>
              </a:rPr>
              <a:t>Lending Analytics Platform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3444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743200" cy="109728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417320"/>
            <a:ext cx="731520" cy="731520"/>
          </a:xfrm>
          <a:prstGeom prst="ellipse">
            <a:avLst/>
          </a:prstGeom>
          <a:solidFill>
            <a:srgbClr val="E8593C">
              <a:alpha val="85000"/>
            </a:srgbClr>
          </a:solidFill>
          <a:ln w="12700">
            <a:solidFill>
              <a:srgbClr val="E859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✗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SQL Barrier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" y="278892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4A5E"/>
                </a:solidFill>
              </a:rPr>
              <a:t>Business executives cannot write SQL to query Redshift. They depend on data teams for every report.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234440"/>
            <a:ext cx="2743200" cy="109728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417320"/>
            <a:ext cx="731520" cy="731520"/>
          </a:xfrm>
          <a:prstGeom prst="ellipse">
            <a:avLst/>
          </a:prstGeom>
          <a:solidFill>
            <a:srgbClr val="E8593C">
              <a:alpha val="85000"/>
            </a:srgbClr>
          </a:solidFill>
          <a:ln w="12700">
            <a:solidFill>
              <a:srgbClr val="E859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✗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83280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Slow Turnaround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10712" y="278892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4A5E"/>
                </a:solidFill>
              </a:rPr>
              <a:t>Every insight request creates a ticket. Data teams are bottlenecked and executives wait days for answers.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123444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234440"/>
            <a:ext cx="2743200" cy="109728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78040" y="1417320"/>
            <a:ext cx="731520" cy="731520"/>
          </a:xfrm>
          <a:prstGeom prst="ellipse">
            <a:avLst/>
          </a:prstGeom>
          <a:solidFill>
            <a:srgbClr val="E8593C">
              <a:alpha val="85000"/>
            </a:srgbClr>
          </a:solidFill>
          <a:ln w="12700">
            <a:solidFill>
              <a:srgbClr val="E859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✗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09360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No Self-Service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36792" y="278892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4A5E"/>
                </a:solidFill>
              </a:rPr>
              <a:t>Leaders cannot explore data freely. Decisions get delayed because live numbers are not accessible on demand.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4645152"/>
            <a:ext cx="8503920" cy="365760"/>
          </a:xfrm>
          <a:prstGeom prst="rect">
            <a:avLst/>
          </a:prstGeom>
          <a:solidFill>
            <a:srgbClr val="0D1B3E">
              <a:alpha val="92000"/>
            </a:srgbClr>
          </a:solidFill>
          <a:ln w="12700">
            <a:solidFill>
              <a:srgbClr val="0D1B3E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645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Solution: Let AI translate plain English into live data — with full governance and auditability.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End-to-End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E6FA"/>
                </a:solidFill>
              </a:rPr>
              <a:t>How a business question becomes a live data answer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645920" cy="658368"/>
          </a:xfrm>
          <a:prstGeom prst="rect">
            <a:avLst/>
          </a:prstGeom>
          <a:solidFill>
            <a:srgbClr val="0A8A7A"/>
          </a:solidFill>
          <a:ln w="12700">
            <a:solidFill>
              <a:srgbClr val="0FC5B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4300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Query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38528" y="1472184"/>
            <a:ext cx="1261872" cy="0"/>
          </a:xfrm>
          <a:prstGeom prst="line">
            <a:avLst/>
          </a:prstGeom>
          <a:noFill/>
          <a:ln w="19050">
            <a:solidFill>
              <a:srgbClr val="0FC5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3824" y="1399032"/>
            <a:ext cx="109728" cy="146304"/>
          </a:xfrm>
          <a:prstGeom prst="rect">
            <a:avLst/>
          </a:prstGeom>
          <a:solidFill>
            <a:srgbClr val="0FC5B0"/>
          </a:solidFill>
          <a:ln w="12700">
            <a:solidFill>
              <a:srgbClr val="0FC5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005840"/>
            <a:ext cx="2194560" cy="914400"/>
          </a:xfrm>
          <a:prstGeom prst="rect">
            <a:avLst/>
          </a:prstGeom>
          <a:solidFill>
            <a:srgbClr val="152D5E"/>
          </a:solidFill>
          <a:ln w="12700">
            <a:solidFill>
              <a:srgbClr val="C8E6FA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0058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Build Prompt
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System Prompt + Semantic Layer + User Query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201168"/>
            <a:ext cx="2423160" cy="749808"/>
          </a:xfrm>
          <a:prstGeom prst="rect">
            <a:avLst/>
          </a:prstGeom>
          <a:solidFill>
            <a:srgbClr val="F5A623">
              <a:alpha val="90000"/>
            </a:srgbClr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0116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Business Semantic Layer
</a:t>
            </a:r>
            <a:pPr algn="ctr" indent="0" marL="0">
              <a:buNone/>
            </a:pPr>
            <a:r>
              <a:rPr lang="en-US" sz="950" dirty="0">
                <a:solidFill>
                  <a:srgbClr val="0D1B3E"/>
                </a:solidFill>
              </a:rPr>
              <a:t>(Document)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99248" y="950976"/>
            <a:ext cx="0" cy="384048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0680" y="1325880"/>
            <a:ext cx="2258568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22392" y="1252728"/>
            <a:ext cx="109728" cy="1463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117043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A623"/>
                </a:solidFill>
              </a:rPr>
              <a:t>injects schema context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40680" y="1463040"/>
            <a:ext cx="777240" cy="0"/>
          </a:xfrm>
          <a:prstGeom prst="line">
            <a:avLst/>
          </a:prstGeom>
          <a:noFill/>
          <a:ln w="19050">
            <a:solidFill>
              <a:srgbClr val="0FC5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1344" y="1389888"/>
            <a:ext cx="109728" cy="146304"/>
          </a:xfrm>
          <a:prstGeom prst="rect">
            <a:avLst/>
          </a:prstGeom>
          <a:solidFill>
            <a:srgbClr val="0FC5B0"/>
          </a:solidFill>
          <a:ln w="12700">
            <a:solidFill>
              <a:srgbClr val="0FC5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2103120"/>
            <a:ext cx="2194560" cy="749808"/>
          </a:xfrm>
          <a:prstGeom prst="rect">
            <a:avLst/>
          </a:prstGeom>
          <a:solidFill>
            <a:srgbClr val="0A8A7A">
              <a:alpha val="85000"/>
            </a:srgbClr>
          </a:solidFill>
          <a:ln w="12700">
            <a:solidFill>
              <a:srgbClr val="0FC5B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46120" y="2103120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
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Extract Required Semantics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43400" y="1920240"/>
            <a:ext cx="0" cy="201168"/>
          </a:xfrm>
          <a:prstGeom prst="line">
            <a:avLst/>
          </a:prstGeom>
          <a:noFill/>
          <a:ln w="19050">
            <a:solidFill>
              <a:srgbClr val="0FC5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70248" y="2084832"/>
            <a:ext cx="109728" cy="109728"/>
          </a:xfrm>
          <a:prstGeom prst="rect">
            <a:avLst/>
          </a:prstGeom>
          <a:solidFill>
            <a:srgbClr val="0FC5B0"/>
          </a:solidFill>
          <a:ln w="12700">
            <a:solidFill>
              <a:srgbClr val="0FC5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65960" y="2478024"/>
            <a:ext cx="1298448" cy="0"/>
          </a:xfrm>
          <a:prstGeom prst="line">
            <a:avLst/>
          </a:prstGeom>
          <a:noFill/>
          <a:ln w="19050">
            <a:solidFill>
              <a:srgbClr val="0FC5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47672" y="2404872"/>
            <a:ext cx="109728" cy="146304"/>
          </a:xfrm>
          <a:prstGeom prst="rect">
            <a:avLst/>
          </a:prstGeom>
          <a:solidFill>
            <a:srgbClr val="0FC5B0"/>
          </a:solidFill>
          <a:ln w="12700">
            <a:solidFill>
              <a:srgbClr val="0FC5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103120"/>
            <a:ext cx="1691640" cy="749808"/>
          </a:xfrm>
          <a:prstGeom prst="rect">
            <a:avLst/>
          </a:prstGeom>
          <a:solidFill>
            <a:srgbClr val="152D5E"/>
          </a:solidFill>
          <a:ln w="12700">
            <a:solidFill>
              <a:srgbClr val="C8E6FA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4320" y="2103120"/>
            <a:ext cx="1691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Convert
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Semantics to SQL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115568" y="2852928"/>
            <a:ext cx="0" cy="256032"/>
          </a:xfrm>
          <a:prstGeom prst="line">
            <a:avLst/>
          </a:prstGeom>
          <a:noFill/>
          <a:ln w="19050">
            <a:solidFill>
              <a:srgbClr val="0FC5B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2416" y="3090672"/>
            <a:ext cx="109728" cy="109728"/>
          </a:xfrm>
          <a:prstGeom prst="rect">
            <a:avLst/>
          </a:prstGeom>
          <a:solidFill>
            <a:srgbClr val="0FC5B0"/>
          </a:solidFill>
          <a:ln w="12700">
            <a:solidFill>
              <a:srgbClr val="0FC5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182112"/>
            <a:ext cx="1691640" cy="749808"/>
          </a:xfrm>
          <a:prstGeom prst="rect">
            <a:avLst/>
          </a:prstGeom>
          <a:solidFill>
            <a:srgbClr val="1A3A6E"/>
          </a:solidFill>
          <a:ln w="12700">
            <a:solidFill>
              <a:srgbClr val="C8E6FA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3182112"/>
            <a:ext cx="1691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Execute Query
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Return Results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395020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FC5B0"/>
                </a:solidFill>
              </a:rPr>
              <a:t>← AWS Redshift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115568" y="3931920"/>
            <a:ext cx="0" cy="228600"/>
          </a:xfrm>
          <a:prstGeom prst="line">
            <a:avLst/>
          </a:prstGeom>
          <a:noFill/>
          <a:ln w="19050">
            <a:solidFill>
              <a:srgbClr val="0FC5B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2416" y="4142232"/>
            <a:ext cx="109728" cy="109728"/>
          </a:xfrm>
          <a:prstGeom prst="rect">
            <a:avLst/>
          </a:prstGeom>
          <a:solidFill>
            <a:srgbClr val="0FC5B0"/>
          </a:solidFill>
          <a:ln w="12700">
            <a:solidFill>
              <a:srgbClr val="0FC5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233672"/>
            <a:ext cx="1691640" cy="658368"/>
          </a:xfrm>
          <a:prstGeom prst="rect">
            <a:avLst/>
          </a:prstGeom>
          <a:solidFill>
            <a:srgbClr val="0A8A7A"/>
          </a:solidFill>
          <a:ln w="12700">
            <a:solidFill>
              <a:srgbClr val="0FC5B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74320" y="4233672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Generate Response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984248" y="4562856"/>
            <a:ext cx="1170432" cy="0"/>
          </a:xfrm>
          <a:prstGeom prst="line">
            <a:avLst/>
          </a:prstGeom>
          <a:noFill/>
          <a:ln w="19050">
            <a:solidFill>
              <a:srgbClr val="0FC5B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18104" y="4489704"/>
            <a:ext cx="109728" cy="146304"/>
          </a:xfrm>
          <a:prstGeom prst="rect">
            <a:avLst/>
          </a:prstGeom>
          <a:solidFill>
            <a:srgbClr val="0FC5B0"/>
          </a:solidFill>
          <a:ln w="12700">
            <a:solidFill>
              <a:srgbClr val="0FC5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233672"/>
            <a:ext cx="1828800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200400" y="423367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Final Response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64408" y="2478024"/>
            <a:ext cx="-1828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Step 1 — Build the Prompt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132320" y="292608"/>
            <a:ext cx="1737360" cy="420624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29260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Foundation Layer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2743200" cy="91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53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System Prompt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37744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5E"/>
                </a:solidFill>
              </a:rPr>
              <a:t>Tells the LLM its role: 'You are a BI assistant for a lending company. Always extract structured metrics, dimensions, and filters from the user query.'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188720"/>
            <a:ext cx="2743200" cy="91440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353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8A7A"/>
                </a:solidFill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37560" y="19202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Semantic Layer Doc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37744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5E"/>
                </a:solidFill>
              </a:rPr>
              <a:t>The business dictionary — metric definitions, table names, column mappings, KPI formulas. E.g. NPA Rate = NPA Loans / Total Loans × 100.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188720"/>
            <a:ext cx="2743200" cy="91440"/>
          </a:xfrm>
          <a:prstGeom prst="rect">
            <a:avLst/>
          </a:prstGeom>
          <a:solidFill>
            <a:srgbClr val="1A5C8E"/>
          </a:solidFill>
          <a:ln w="12700">
            <a:solidFill>
              <a:srgbClr val="1A5C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353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8E"/>
                </a:solidFill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63640" y="19202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User Query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237744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5E"/>
                </a:solidFill>
              </a:rPr>
              <a:t>The plain English question from the executive. E.g. 'What is our NPA rate in Q3 2024 for the SME segment?'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9718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8A7A"/>
                </a:solidFill>
              </a:rPr>
              <a:t>+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8978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8A7A"/>
                </a:solidFill>
              </a:rPr>
              <a:t>+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4572000" y="4407408"/>
            <a:ext cx="0" cy="320040"/>
          </a:xfrm>
          <a:prstGeom prst="line">
            <a:avLst/>
          </a:prstGeom>
          <a:noFill/>
          <a:ln w="19050">
            <a:solidFill>
              <a:srgbClr val="0D1B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4709160"/>
            <a:ext cx="164592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0" y="4828032"/>
            <a:ext cx="4572000" cy="256032"/>
          </a:xfrm>
          <a:prstGeom prst="rect">
            <a:avLst/>
          </a:prstGeom>
          <a:solidFill>
            <a:srgbClr val="0D1B3E">
              <a:alpha val="92000"/>
            </a:srgbClr>
          </a:solidFill>
          <a:ln w="12700">
            <a:solidFill>
              <a:srgbClr val="0D1B3E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0" y="48280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Combined → sent to LLM to extract structured semantics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Step 2 — LLM Extracts Semantics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E6FA"/>
                </a:solidFill>
              </a:rPr>
              <a:t>The LLM reads the prompt and identifies what data is needed — structured, not freeform.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200400" cy="2926080"/>
          </a:xfrm>
          <a:prstGeom prst="rect">
            <a:avLst/>
          </a:prstGeom>
          <a:solidFill>
            <a:srgbClr val="0A1F45"/>
          </a:solidFill>
          <a:ln w="12700">
            <a:solidFill>
              <a:srgbClr val="C8E6FA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97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C5B0"/>
                </a:solidFill>
              </a:rPr>
              <a:t>INPUT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2834640" cy="0"/>
          </a:xfrm>
          <a:prstGeom prst="line">
            <a:avLst/>
          </a:prstGeom>
          <a:noFill/>
          <a:ln w="6350">
            <a:solidFill>
              <a:srgbClr val="0FC5B0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292608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C5B0"/>
                </a:solidFill>
              </a:rPr>
              <a:t>User: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"What is our NPA rate
in Q3 2024 for the
SME segment?"
</a:t>
            </a:r>
            <a:pPr indent="0" marL="0">
              <a:buNone/>
            </a:pPr>
            <a:r>
              <a:rPr lang="en-US" sz="1000" i="1" dirty="0">
                <a:solidFill>
                  <a:srgbClr val="C8E6FA"/>
                </a:solidFill>
              </a:rPr>
              <a:t>+ Semantic Layer Doc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C8E6FA"/>
                </a:solidFill>
              </a:rPr>
              <a:t>+ System Prompt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2560320"/>
            <a:ext cx="731520" cy="0"/>
          </a:xfrm>
          <a:prstGeom prst="line">
            <a:avLst/>
          </a:prstGeom>
          <a:noFill/>
          <a:ln w="25400">
            <a:solidFill>
              <a:srgbClr val="0FC5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2487168"/>
            <a:ext cx="128016" cy="146304"/>
          </a:xfrm>
          <a:prstGeom prst="rect">
            <a:avLst/>
          </a:prstGeom>
          <a:solidFill>
            <a:srgbClr val="0FC5B0"/>
          </a:solidFill>
          <a:ln w="12700">
            <a:solidFill>
              <a:srgbClr val="0FC5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3317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C5B0"/>
                </a:solidFill>
              </a:rPr>
              <a:t>LLM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43400" y="1097280"/>
            <a:ext cx="4526280" cy="2926080"/>
          </a:xfrm>
          <a:prstGeom prst="rect">
            <a:avLst/>
          </a:prstGeom>
          <a:solidFill>
            <a:srgbClr val="0A1F45"/>
          </a:solidFill>
          <a:ln w="12700">
            <a:solidFill>
              <a:srgbClr val="0FC5B0">
                <a:alpha val="7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43400" y="109728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C5B0"/>
                </a:solidFill>
              </a:rPr>
              <a:t>OUTPUT — Extracted Semantics (JSON)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26280" y="1444752"/>
            <a:ext cx="4160520" cy="0"/>
          </a:xfrm>
          <a:prstGeom prst="line">
            <a:avLst/>
          </a:prstGeom>
          <a:noFill/>
          <a:ln w="6350">
            <a:solidFill>
              <a:srgbClr val="0FC5B0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508760"/>
            <a:ext cx="42062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C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"metric"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"npa_rate",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C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"time_period"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"Q3 2024",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C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"segment"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"SME",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C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"table"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"loan_master",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C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"formula"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"NPA_loans / total_loans * 100"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4206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8E6FA"/>
                </a:solidFill>
              </a:rPr>
              <a:t>This structured output is then used to generate precise SQL — no hallucination, no guessing.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3 — Convert to SQL &amp; Execute on Redshift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3200400"/>
          </a:xfrm>
          <a:prstGeom prst="rect">
            <a:avLst/>
          </a:prstGeom>
          <a:solidFill>
            <a:srgbClr val="0D1B3E"/>
          </a:solidFill>
          <a:ln w="12700">
            <a:solidFill>
              <a:srgbClr val="C8E6FA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C5B0"/>
                </a:solidFill>
              </a:rPr>
              <a:t>Generated SQL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749040" cy="0"/>
          </a:xfrm>
          <a:prstGeom prst="line">
            <a:avLst/>
          </a:prstGeom>
          <a:noFill/>
          <a:ln w="6350">
            <a:solidFill>
              <a:srgbClr val="0FC5B0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72768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C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COUNT(CASE WHEN status =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'NPA'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    THEN 1 END) * 100.0
  / COUNT(*) AS npa_rate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C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loan_master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C5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segment =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'SME'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quarter =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'Q3 2024'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25696" y="2743200"/>
            <a:ext cx="594360" cy="0"/>
          </a:xfrm>
          <a:prstGeom prst="line">
            <a:avLst/>
          </a:prstGeom>
          <a:noFill/>
          <a:ln w="25400">
            <a:solidFill>
              <a:srgbClr val="0D1B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83480" y="2670048"/>
            <a:ext cx="128016" cy="14630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7408" y="251460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D1B3E"/>
                </a:solidFill>
              </a:rPr>
              <a:t>Redshift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0640" y="1143000"/>
            <a:ext cx="3749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Live Results from Redshift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85232" y="1508760"/>
            <a:ext cx="3419856" cy="0"/>
          </a:xfrm>
          <a:prstGeom prst="line">
            <a:avLst/>
          </a:prstGeom>
          <a:noFill/>
          <a:ln w="6350">
            <a:solidFill>
              <a:srgbClr val="D0D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17373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0A8A7A"/>
                </a:solidFill>
              </a:rPr>
              <a:t>7.4%</a:t>
            </a:r>
            <a:endParaRPr lang="en-US" sz="5800" dirty="0"/>
          </a:p>
        </p:txBody>
      </p:sp>
      <p:sp>
        <p:nvSpPr>
          <p:cNvPr id="16" name="Text 14"/>
          <p:cNvSpPr/>
          <p:nvPr/>
        </p:nvSpPr>
        <p:spPr>
          <a:xfrm>
            <a:off x="5120640" y="2697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3BF"/>
                </a:solidFill>
              </a:rPr>
              <a:t>NPA Rate — SME Segment, Q3 2024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85232" y="3090672"/>
            <a:ext cx="3419856" cy="0"/>
          </a:xfrm>
          <a:prstGeom prst="line">
            <a:avLst/>
          </a:prstGeom>
          <a:noFill/>
          <a:ln w="6350">
            <a:solidFill>
              <a:srgbClr val="D0DC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32004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FA3BF"/>
                </a:solidFill>
              </a:rPr>
              <a:t>Total Loans (SME): 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D1B3E"/>
                </a:solidFill>
              </a:rPr>
              <a:t>12,400</a:t>
            </a:r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FA3BF"/>
                </a:solidFill>
              </a:rPr>
              <a:t>NPA Loans:  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8593C"/>
                </a:solidFill>
              </a:rPr>
              <a:t>917</a:t>
            </a:r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FA3BF"/>
                </a:solidFill>
              </a:rPr>
              <a:t>Query time:  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A8A7A"/>
                </a:solidFill>
              </a:rPr>
              <a:t>0.38s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480560"/>
            <a:ext cx="8595360" cy="274320"/>
          </a:xfrm>
          <a:prstGeom prst="rect">
            <a:avLst/>
          </a:prstGeom>
          <a:solidFill>
            <a:srgbClr val="0A8A7A">
              <a:alpha val="15000"/>
            </a:srgbClr>
          </a:solidFill>
          <a:ln w="12700">
            <a:solidFill>
              <a:srgbClr val="0A8A7A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4805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Results are then sent to the LLM to compose a clear, human-readable final response.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Semantic Layer — The Brain of the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685800"/>
          </a:xfrm>
          <a:prstGeom prst="rect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000"/>
                </a:solidFill>
              </a:rPr>
              <a:t>The Semantic Layer is a business dictionary that bridges plain English and raw database tables. Without it, the LLM would not know that NPA rate means COUNT(status='NPA') / COUNT(*) × 100 on the loan_master table.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938528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38528"/>
            <a:ext cx="91440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7568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Metric Definitions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414016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</a:rPr>
              <a:t>NPA Rate, Disbursement, PAR30, collection efficiency — each defined with exact formula and source table.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938528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938528"/>
            <a:ext cx="91440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07568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Table &amp; Column Map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414016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</a:rPr>
              <a:t>Maps business terms to physical Redshift tables, schemas, and column names the LLM must use in SQL.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355848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355848"/>
            <a:ext cx="91440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9300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Business Rules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831336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</a:rPr>
              <a:t>Filters, segments, hierarchies — SME vs Retail, active vs closed, regional groupings encoded here.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355848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355848"/>
            <a:ext cx="91440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49300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Governance Layer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3831336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5E"/>
                </a:solidFill>
              </a:rPr>
              <a:t>Controls which metrics are accessible, ensures the LLM cannot query sensitive or unauthorised tables.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0A8A7A">
              <a:alpha val="8000"/>
            </a:srgbClr>
          </a:solidFill>
          <a:ln w="12700">
            <a:solidFill>
              <a:srgbClr val="0A8A7A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This Architecture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75488" cy="475488"/>
          </a:xfrm>
          <a:prstGeom prst="ellipse">
            <a:avLst/>
          </a:prstGeom>
          <a:solidFill>
            <a:srgbClr val="0A8A7A"/>
          </a:solidFill>
          <a:ln w="12700">
            <a:solidFill>
              <a:srgbClr val="0FC5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00584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SQL needed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1005840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E6FA"/>
                </a:solidFill>
              </a:rPr>
              <a:t>Business users get answers in plain English. The LLM handles all SQL generation.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8503920" cy="0"/>
          </a:xfrm>
          <a:prstGeom prst="line">
            <a:avLst/>
          </a:prstGeom>
          <a:noFill/>
          <a:ln w="6350">
            <a:solidFill>
              <a:srgbClr val="C8E6FA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65376"/>
            <a:ext cx="475488" cy="475488"/>
          </a:xfrm>
          <a:prstGeom prst="ellipse">
            <a:avLst/>
          </a:prstGeom>
          <a:solidFill>
            <a:srgbClr val="0A8A7A"/>
          </a:solidFill>
          <a:ln w="12700">
            <a:solidFill>
              <a:srgbClr val="0FC5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653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792224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Always accurate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1792224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E6FA"/>
                </a:solidFill>
              </a:rPr>
              <a:t>Semantic layer grounds the LLM in real business definitions — no hallucinated formulas.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414016"/>
            <a:ext cx="8503920" cy="0"/>
          </a:xfrm>
          <a:prstGeom prst="line">
            <a:avLst/>
          </a:prstGeom>
          <a:noFill/>
          <a:ln w="6350">
            <a:solidFill>
              <a:srgbClr val="C8E6FA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651760"/>
            <a:ext cx="475488" cy="475488"/>
          </a:xfrm>
          <a:prstGeom prst="ellipse">
            <a:avLst/>
          </a:prstGeom>
          <a:solidFill>
            <a:srgbClr val="0A8A7A"/>
          </a:solidFill>
          <a:ln w="12700">
            <a:solidFill>
              <a:srgbClr val="0FC5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517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578608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Live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2578608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E6FA"/>
                </a:solidFill>
              </a:rPr>
              <a:t>Queries run directly on Redshift. No stale reports, no data snapshots.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200400"/>
            <a:ext cx="8503920" cy="0"/>
          </a:xfrm>
          <a:prstGeom prst="line">
            <a:avLst/>
          </a:prstGeom>
          <a:noFill/>
          <a:ln w="6350">
            <a:solidFill>
              <a:srgbClr val="C8E6FA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38144"/>
            <a:ext cx="475488" cy="475488"/>
          </a:xfrm>
          <a:prstGeom prst="ellipse">
            <a:avLst/>
          </a:prstGeom>
          <a:solidFill>
            <a:srgbClr val="0A8A7A"/>
          </a:solidFill>
          <a:ln w="12700">
            <a:solidFill>
              <a:srgbClr val="0FC5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381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364992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Fully auditable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17520" y="3364992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E6FA"/>
                </a:solidFill>
              </a:rPr>
              <a:t>Every query is logged. Every metric is traceable to a defined rule in the semantic layer.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3986784"/>
            <a:ext cx="8503920" cy="0"/>
          </a:xfrm>
          <a:prstGeom prst="line">
            <a:avLst/>
          </a:prstGeom>
          <a:noFill/>
          <a:ln w="6350">
            <a:solidFill>
              <a:srgbClr val="C8E6FA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224528"/>
            <a:ext cx="475488" cy="475488"/>
          </a:xfrm>
          <a:prstGeom prst="ellipse">
            <a:avLst/>
          </a:prstGeom>
          <a:solidFill>
            <a:srgbClr val="0A8A7A"/>
          </a:solidFill>
          <a:ln w="12700">
            <a:solidFill>
              <a:srgbClr val="0FC5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2245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4151376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Scalable governance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017520" y="4151376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E6FA"/>
                </a:solidFill>
              </a:rPr>
              <a:t>Add new metrics to the semantic layer — no code changes needed.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A8A7A">
              <a:alpha val="30000"/>
            </a:srgbClr>
          </a:solidFill>
          <a:ln w="12700">
            <a:solidFill>
              <a:srgbClr val="0A8A7A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6FA"/>
                </a:solidFill>
              </a:rPr>
              <a:t>AI-Powered BI Chatbot  |  Lending Analytics Platform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BI Chatbot Architecture</dc:title>
  <dc:subject>PptxGenJS Presentation</dc:subject>
  <dc:creator>PptxGenJS</dc:creator>
  <cp:lastModifiedBy>PptxGenJS</cp:lastModifiedBy>
  <cp:revision>1</cp:revision>
  <dcterms:created xsi:type="dcterms:W3CDTF">2026-03-28T12:50:52Z</dcterms:created>
  <dcterms:modified xsi:type="dcterms:W3CDTF">2026-03-28T12:50:52Z</dcterms:modified>
</cp:coreProperties>
</file>